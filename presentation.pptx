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6213E"/>
                </a:solidFill>
              </a:rPr>
              <a:t>Advanced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Exercise 6  —  Web Graph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8595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F4F4F4"/>
                </a:solidFill>
              </a:rPr>
              <a:t>|  Bar-Ilan University  |  202</a:t>
            </a:r>
            <a:r>
              <a:rPr lang="en-US" sz="1500" b="0" i="0" dirty="0">
                <a:solidFill>
                  <a:srgbClr val="F4F4F4"/>
                </a:solidFill>
              </a:rPr>
              <a:t>6</a:t>
            </a:r>
            <a:endParaRPr sz="1500" b="0" i="0" dirty="0">
              <a:solidFill>
                <a:srgbClr val="F4F4F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0" y="2423160"/>
            <a:ext cx="36576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6517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ECDC4"/>
                </a:solidFill>
              </a:rPr>
              <a:t>Submitted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8595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I</a:t>
            </a:r>
            <a:r>
              <a:rPr lang="en-US" sz="1600" b="1" i="0" dirty="0">
                <a:solidFill>
                  <a:srgbClr val="FFFFFF"/>
                </a:solidFill>
              </a:rPr>
              <a:t>do </a:t>
            </a:r>
            <a:r>
              <a:rPr lang="en-US" sz="1600" b="1" dirty="0">
                <a:solidFill>
                  <a:srgbClr val="FFFFFF"/>
                </a:solidFill>
              </a:rPr>
              <a:t>L</a:t>
            </a:r>
            <a:r>
              <a:rPr lang="en-US" sz="1600" b="1" i="0" dirty="0">
                <a:solidFill>
                  <a:srgbClr val="FFFFFF"/>
                </a:solidFill>
              </a:rPr>
              <a:t>eibowitz</a:t>
            </a:r>
            <a:r>
              <a:rPr sz="1600" b="1" i="0" dirty="0">
                <a:solidFill>
                  <a:srgbClr val="FFFFFF"/>
                </a:solidFill>
              </a:rPr>
              <a:t> |  ID: </a:t>
            </a:r>
            <a:r>
              <a:rPr lang="en-US" sz="1600" b="1" i="0" dirty="0">
                <a:solidFill>
                  <a:srgbClr val="FFFFFF"/>
                </a:solidFill>
              </a:rPr>
              <a:t>209613934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3429000"/>
            <a:ext cx="8595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Idan Michaely</a:t>
            </a:r>
            <a:r>
              <a:rPr sz="1600" b="1" i="0" dirty="0">
                <a:solidFill>
                  <a:srgbClr val="FFFFFF"/>
                </a:solidFill>
              </a:rPr>
              <a:t>  |  ID: </a:t>
            </a:r>
            <a:r>
              <a:rPr lang="en-US" sz="1600" b="1" i="0" dirty="0">
                <a:solidFill>
                  <a:srgbClr val="FFFFFF"/>
                </a:solidFill>
              </a:rPr>
              <a:t>322710377</a:t>
            </a:r>
            <a:endParaRPr sz="16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▸  Real-time distributed computation over a Pub/Sub messaging system</a:t>
            </a:r>
          </a:p>
          <a:p>
            <a:r>
              <a:rPr sz="1700">
                <a:solidFill>
                  <a:srgbClr val="FFFFFF"/>
                </a:solidFill>
              </a:rPr>
              <a:t>▸  Each machine runs a local HTTP server — accessible from any browser remotely</a:t>
            </a:r>
          </a:p>
          <a:p>
            <a:r>
              <a:rPr sz="1700">
                <a:solidFill>
                  <a:srgbClr val="FFFFFF"/>
                </a:solidFill>
              </a:rPr>
              <a:t>▸  Users upload a configuration file to deploy a computation graph on the machine</a:t>
            </a:r>
          </a:p>
          <a:p>
            <a:r>
              <a:rPr sz="1700">
                <a:solidFill>
                  <a:srgbClr val="FFFFFF"/>
                </a:solidFill>
              </a:rPr>
              <a:t>▸  Values flow:  Input Topics  →  Agents (compute)  →  Output Topics  →  Visualization</a:t>
            </a:r>
          </a:p>
          <a:p>
            <a:r>
              <a:rPr sz="1700">
                <a:solidFill>
                  <a:srgbClr val="FFFFFF"/>
                </a:solidFill>
              </a:rPr>
              <a:t>▸  Goal: give any operator a visual window into the machine's live computation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4ECDC4"/>
                </a:solidFill>
              </a:rPr>
              <a:t>Architecture</a:t>
            </a:r>
          </a:p>
          <a:p>
            <a:endParaRPr sz="1600" b="1">
              <a:solidFill>
                <a:srgbClr val="4ECDC4"/>
              </a:solidFill>
            </a:endParaRPr>
          </a:p>
          <a:p>
            <a:r>
              <a:rPr sz="1400">
                <a:solidFill>
                  <a:srgbClr val="FFFFFF"/>
                </a:solidFill>
              </a:rPr>
              <a:t>▸  Web UI (HTML / JS)  ↔  HTTP Server (MyHTTPServer)  ↔  Pub/Sub Engine</a:t>
            </a:r>
          </a:p>
          <a:p>
            <a:r>
              <a:rPr sz="1400">
                <a:solidFill>
                  <a:srgbClr val="FFFFFF"/>
                </a:solidFill>
              </a:rPr>
              <a:t>▸  3-panel interface:  Control  |  Computation Graph  |  Topics Table</a:t>
            </a:r>
          </a:p>
          <a:p>
            <a:r>
              <a:rPr sz="1400">
                <a:solidFill>
                  <a:srgbClr val="FFFFFF"/>
                </a:solidFill>
              </a:rPr>
              <a:t>▸  Servlet routing with longest-prefix matching</a:t>
            </a:r>
          </a:p>
          <a:p>
            <a:r>
              <a:rPr sz="1400">
                <a:solidFill>
                  <a:srgbClr val="FFFFFF"/>
                </a:solidFill>
              </a:rPr>
              <a:t>▸  JS polling every 2 s — DOM updated in-place (no page flicker)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ECDC4"/>
                </a:solidFill>
              </a:rPr>
              <a:t>All code in package test  |  Compiled: javac -sourcepath . -d out test\*.java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73152"/>
            <a:ext cx="8412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▸  Upload a .conf file  →  computation graph built automatically via reflection</a:t>
            </a:r>
          </a:p>
          <a:p>
            <a:r>
              <a:rPr sz="1600">
                <a:solidFill>
                  <a:srgbClr val="FFFFFF"/>
                </a:solidFill>
              </a:rPr>
              <a:t>▸  SVG graph visualization — topics as rectangles, agents as circles, directed edges</a:t>
            </a:r>
          </a:p>
          <a:p>
            <a:r>
              <a:rPr sz="1600">
                <a:solidFill>
                  <a:srgbClr val="FFFFFF"/>
                </a:solidFill>
              </a:rPr>
              <a:t>▸  Publish a value to a topic  →  result propagates through the entire graph instantly</a:t>
            </a:r>
          </a:p>
          <a:p>
            <a:r>
              <a:rPr sz="1600">
                <a:solidFill>
                  <a:srgbClr val="FFFFFF"/>
                </a:solidFill>
              </a:rPr>
              <a:t>▸  Topics table — shows every channel's current value in real time</a:t>
            </a:r>
          </a:p>
          <a:p>
            <a:r>
              <a:rPr sz="1600">
                <a:solidFill>
                  <a:srgbClr val="FFFFFF"/>
                </a:solidFill>
              </a:rPr>
              <a:t>▸  Valid / Invalid status column — green ✓ if a value exists, red ✗ if empty</a:t>
            </a:r>
          </a:p>
          <a:p>
            <a:r>
              <a:rPr sz="1600">
                <a:solidFill>
                  <a:srgbClr val="FFFFFF"/>
                </a:solidFill>
              </a:rPr>
              <a:t>▸  Descriptive error messages when an invalid config file is uploaded</a:t>
            </a:r>
          </a:p>
          <a:p>
            <a:r>
              <a:rPr sz="1600">
                <a:solidFill>
                  <a:srgbClr val="FFFFFF"/>
                </a:solidFill>
              </a:rPr>
              <a:t>▸  Support for: PlusAgent, IncAgent, MultiplyAgent, AverageAgent, MaxAgent, MinAgent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749039" y="1188720"/>
            <a:ext cx="1645920" cy="164592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39" y="12344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6213E"/>
                </a:solidFill>
              </a:rPr>
              <a:t>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8346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5204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ECDC4"/>
                </a:solidFill>
              </a:rPr>
              <a:t>Idan &amp; Ido Graph Computation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977639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4F4F4"/>
                </a:solidFill>
              </a:rPr>
              <a:t>http://localhost:8080/app/index.html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▸  Building an HTTP server from scratch — sockets, headers, keep-alive, Content-Length</a:t>
            </a:r>
          </a:p>
          <a:p>
            <a:r>
              <a:rPr sz="1500">
                <a:solidFill>
                  <a:srgbClr val="FFFFFF"/>
                </a:solidFill>
              </a:rPr>
              <a:t>▸  Design Patterns are not just theory: Active Object, Singleton, Strategy, Observer, Factory</a:t>
            </a:r>
          </a:p>
          <a:p>
            <a:r>
              <a:rPr sz="1500">
                <a:solidFill>
                  <a:srgbClr val="FFFFFF"/>
                </a:solidFill>
              </a:rPr>
              <a:t>▸  Pub/Sub architecture decouples producers from consumers — clean, scalable design</a:t>
            </a:r>
          </a:p>
          <a:p>
            <a:r>
              <a:rPr sz="1500">
                <a:solidFill>
                  <a:srgbClr val="FFFFFF"/>
                </a:solidFill>
              </a:rPr>
              <a:t>▸  Java Reflection enables dynamic class loading and plugin-style configuration</a:t>
            </a:r>
          </a:p>
          <a:p>
            <a:r>
              <a:rPr sz="1500">
                <a:solidFill>
                  <a:srgbClr val="FFFFFF"/>
                </a:solidFill>
              </a:rPr>
              <a:t>▸  Frontend–Backend integration without any external framework</a:t>
            </a:r>
          </a:p>
          <a:p>
            <a:r>
              <a:rPr sz="1500">
                <a:solidFill>
                  <a:srgbClr val="FFFFFF"/>
                </a:solidFill>
              </a:rPr>
              <a:t>▸  SOLID principles, Javadoc documentation, and separation of concerns in a real project</a:t>
            </a:r>
          </a:p>
          <a:p>
            <a:r>
              <a:rPr sz="1500">
                <a:solidFill>
                  <a:srgbClr val="FFFFFF"/>
                </a:solidFill>
              </a:rPr>
              <a:t>▸  Teamwork — merging code from different people into one stable, working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2883</TotalTime>
  <Words>392</Words>
  <Application>Microsoft Office PowerPoint</Application>
  <PresentationFormat>‫הצגה על המסך (16:9)</PresentationFormat>
  <Paragraphs>40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Ido Leibowitz</cp:lastModifiedBy>
  <cp:revision>4</cp:revision>
  <dcterms:created xsi:type="dcterms:W3CDTF">2013-01-27T09:14:16Z</dcterms:created>
  <dcterms:modified xsi:type="dcterms:W3CDTF">2026-06-24T11:22:16Z</dcterms:modified>
  <cp:category/>
</cp:coreProperties>
</file>